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($B)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2027E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104</c:v>
                </c:pt>
                <c:pt idx="1">
                  <c:v>148</c:v>
                </c:pt>
                <c:pt idx="2">
                  <c:v>210</c:v>
                </c:pt>
                <c:pt idx="3">
                  <c:v>312</c:v>
                </c:pt>
                <c:pt idx="4">
                  <c:v>480</c:v>
                </c:pt>
                <c:pt idx="5">
                  <c:v>842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strong. CreatorOS is the world's first AI-native operating system built exclusively for creators. The creator economy is $480B and growing 22% annually — yet every creator still manages their business in Gmail, spreadsheets, and DMs. We change that. Presenters: Suryansh, Rituraj, Ambreesh — Team Rocket.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human cost — creators didn't sign up to manage spreadsheets. 12+ hours per week on admin is devastating for small creator businesses. 300+ unanswered DMs means missed brand deals. 67% underselling themselves means real money left on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CreatorOS replaces an entire VA team with four specialized AI agents. Each agent is purpose-built — they don't just use generic AI, they're trained on creator-specific workflows. The magic moment: everything a creator did manually in 12 hours now happens in 18 minutes while they sleep.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existing tool combines AI inbox management, content distribution, and brand deal assistance in one creator-native platform. Buffer and Hootsuite handle scheduling only. CreatorIQ is brand-side. CreatorOS is the only product built for the creator as a business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stack is chosen for speed-of-execution, not prestige. n8n lets us ship new platform integrations in hours. GPT-4 + Gemini dual-model approach gives us fallback resilience and cost optimization. Pinecone enables semantic search across a creator's entire message history for context-aware AI replies.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n8n sits at the center of our architecture — it's the nervous system. When a brand deal email arrives in Gmail, n8n picks it up via webhook, sends it to GPT-4 for classification, updates PostgreSQL with the deal data, and triggers a reply draft — all in under 3 seconds. Adding a new platform is a single n8n node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tier is our growth flywheel — when creators hit the reply limit, they upgrade immediately because the value is undeniable. Agency tier is our enterprise revenue engine — 50 agencies at $149/mo = $89K ARR from a single channel. LTV:CAC ratio is projected at 48× due to viral creator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Goldman Sachs projects the creator economy will exceed $480B by 2027. Our SAM is the creator tools and services segment (~10%). SOM is AI-native creator tools — still nascent but accelerating rapidly. The market is growing faster than tooling — exactly the right time to 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the foundation — the core AI agents that prove value immediately. Phase 2 makes the AI proactive (it doesn't just respond, it acts). Phase 3 is the platform play — opening our AI infrastructure to third-party developers, similar to how Salesforce became a platform. This is how we become defensible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energy. Ask: 'Who here knows a creator spending 3+ hours on admin every week?' Everyone will raise their hand. That's your market. CreatorOS is not a productivity tool — it's a business transformation. Team Rocket: Suryansh, Rituraj, Ambreesh. Thank you — we're ready for your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286000"/>
            <a:ext cx="3200400" cy="32004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411480"/>
            <a:ext cx="749808" cy="749808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27000" dist="50800" dir="2700000">
              <a:srgbClr val="8B5CF6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512064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8404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CreatorOS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32588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5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MANAGER FOR INFLUENCERS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1508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Creator Business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1148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Autopilot.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11480" y="2852928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manager for creators — automating emails, DMs,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sponsorships, content distribution, and analytics in one unified platform.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3794760"/>
            <a:ext cx="1645920" cy="1078992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" y="3794760"/>
            <a:ext cx="16459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57200" y="4315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194560" y="3794760"/>
            <a:ext cx="1645920" cy="1078992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194560" y="3794760"/>
            <a:ext cx="1645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5"/>
          <p:cNvSpPr/>
          <p:nvPr/>
        </p:nvSpPr>
        <p:spPr>
          <a:xfrm>
            <a:off x="224028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$480B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240280" y="4315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977640" y="3794760"/>
            <a:ext cx="1645920" cy="1078992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977640" y="3794760"/>
            <a:ext cx="16459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19"/>
          <p:cNvSpPr/>
          <p:nvPr/>
        </p:nvSpPr>
        <p:spPr>
          <a:xfrm>
            <a:off x="402336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023360" y="4315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760720" y="3703320"/>
            <a:ext cx="3063240" cy="1234440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3794760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400800" y="37673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Rocket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5897880" y="42062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Suryansh  ·  Rituraj  ·  Ambreesh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897880" y="4526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560320"/>
            <a:ext cx="3657600" cy="3657600"/>
          </a:xfrm>
          <a:prstGeom prst="ellipse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Are Drowning in Admin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untold cost of running a creator business manually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3794760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week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on admin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999232"/>
            <a:ext cx="182880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Linktree Creator Report 2024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93008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burnout &amp; mental fatigue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3133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" y="3813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brand deals &amp; opportunities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9664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1248" y="4151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 from under-pricing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07992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1248" y="4489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collapse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3337560" y="1005840"/>
            <a:ext cx="265176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3337560" y="1005840"/>
            <a:ext cx="26517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4"/>
          <p:cNvSpPr/>
          <p:nvPr/>
        </p:nvSpPr>
        <p:spPr>
          <a:xfrm>
            <a:off x="3429000" y="11704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3200" dirty="0"/>
          </a:p>
        </p:txBody>
      </p:sp>
      <p:sp>
        <p:nvSpPr>
          <p:cNvPr id="21" name="Text 15"/>
          <p:cNvSpPr/>
          <p:nvPr/>
        </p:nvSpPr>
        <p:spPr>
          <a:xfrm>
            <a:off x="3429000" y="17556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&amp; DMs unanswered monthly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126480" y="1005840"/>
            <a:ext cx="265176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126480" y="100584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18"/>
          <p:cNvSpPr/>
          <p:nvPr/>
        </p:nvSpPr>
        <p:spPr>
          <a:xfrm>
            <a:off x="6217920" y="11704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3200" dirty="0"/>
          </a:p>
        </p:txBody>
      </p:sp>
      <p:sp>
        <p:nvSpPr>
          <p:cNvPr id="25" name="Text 19"/>
          <p:cNvSpPr/>
          <p:nvPr/>
        </p:nvSpPr>
        <p:spPr>
          <a:xfrm>
            <a:off x="6217920" y="17556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undercharge on sponsorships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337560" y="2542032"/>
            <a:ext cx="265176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337560" y="2542032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2"/>
          <p:cNvSpPr/>
          <p:nvPr/>
        </p:nvSpPr>
        <p:spPr>
          <a:xfrm>
            <a:off x="3429000" y="27066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4hrs</a:t>
            </a:r>
            <a:endParaRPr lang="en-US" sz="3200" dirty="0"/>
          </a:p>
        </p:txBody>
      </p:sp>
      <p:sp>
        <p:nvSpPr>
          <p:cNvPr id="29" name="Text 23"/>
          <p:cNvSpPr/>
          <p:nvPr/>
        </p:nvSpPr>
        <p:spPr>
          <a:xfrm>
            <a:off x="3429000" y="32918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weekly on cross-platform posting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126480" y="2542032"/>
            <a:ext cx="265176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126480" y="2542032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26"/>
          <p:cNvSpPr/>
          <p:nvPr/>
        </p:nvSpPr>
        <p:spPr>
          <a:xfrm>
            <a:off x="6217920" y="27066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33" name="Text 27"/>
          <p:cNvSpPr/>
          <p:nvPr/>
        </p:nvSpPr>
        <p:spPr>
          <a:xfrm>
            <a:off x="6217920" y="32918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tools built for creators today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1A0A0A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50292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hour spent on admin is an hour NOT spent creating content — the very thing that drives revenue.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-914400"/>
            <a:ext cx="4114800" cy="41148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Four AI Agents.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CreatorOS eliminates every manual creator task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703320" y="1920240"/>
            <a:ext cx="1737360" cy="1234440"/>
          </a:xfrm>
          <a:prstGeom prst="rect">
            <a:avLst/>
          </a:prstGeom>
          <a:solidFill>
            <a:srgbClr val="8B5CF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5072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03320" y="24871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3154680" cy="1828800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005840"/>
            <a:ext cx="31546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" y="1170432"/>
            <a:ext cx="548640" cy="548640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344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11155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Inbox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1828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Reads emails &amp; DMs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2148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Classifies intent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02920" y="2468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Drafts smart replies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520440" y="1920240"/>
            <a:ext cx="1920240" cy="0"/>
          </a:xfrm>
          <a:prstGeom prst="line">
            <a:avLst/>
          </a:prstGeom>
          <a:noFill/>
          <a:ln w="10160">
            <a:solidFill>
              <a:srgbClr val="06B6D4">
                <a:alpha val="50000"/>
              </a:srgbClr>
            </a:solidFill>
            <a:prstDash val="sysDash"/>
          </a:ln>
        </p:spPr>
      </p:sp>
      <p:sp>
        <p:nvSpPr>
          <p:cNvPr id="17" name="Shape 13"/>
          <p:cNvSpPr/>
          <p:nvPr/>
        </p:nvSpPr>
        <p:spPr>
          <a:xfrm>
            <a:off x="7040880" y="1005840"/>
            <a:ext cx="3154680" cy="1828800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40880" y="1005840"/>
            <a:ext cx="315468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9" name="Shape 15"/>
          <p:cNvSpPr/>
          <p:nvPr/>
        </p:nvSpPr>
        <p:spPr>
          <a:xfrm>
            <a:off x="7178040" y="1170432"/>
            <a:ext cx="548640" cy="548640"/>
          </a:xfrm>
          <a:prstGeom prst="ellipse">
            <a:avLst/>
          </a:prstGeom>
          <a:solidFill>
            <a:srgbClr val="A855F7">
              <a:alpha val="22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23444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818120" y="11155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178040" y="1828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Upload once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7178040" y="2148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Publish to 6+ platforms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178040" y="2468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AI-formats per platform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703320" y="1920240"/>
            <a:ext cx="3337560" cy="0"/>
          </a:xfrm>
          <a:prstGeom prst="line">
            <a:avLst/>
          </a:prstGeom>
          <a:noFill/>
          <a:ln w="10160">
            <a:solidFill>
              <a:srgbClr val="A855F7">
                <a:alpha val="50000"/>
              </a:srgbClr>
            </a:solidFill>
            <a:prstDash val="sysDash"/>
          </a:ln>
        </p:spPr>
      </p:sp>
      <p:sp>
        <p:nvSpPr>
          <p:cNvPr id="26" name="Shape 21"/>
          <p:cNvSpPr/>
          <p:nvPr/>
        </p:nvSpPr>
        <p:spPr>
          <a:xfrm>
            <a:off x="365760" y="3017520"/>
            <a:ext cx="3154680" cy="1828800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65760" y="3017520"/>
            <a:ext cx="3154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3"/>
          <p:cNvSpPr/>
          <p:nvPr/>
        </p:nvSpPr>
        <p:spPr>
          <a:xfrm>
            <a:off x="502920" y="3182112"/>
            <a:ext cx="548640" cy="548640"/>
          </a:xfrm>
          <a:prstGeom prst="ellipse">
            <a:avLst/>
          </a:prstGeom>
          <a:solidFill>
            <a:srgbClr val="F59E0B">
              <a:alpha val="22000"/>
            </a:srgbClr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46120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43000" y="31272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Deal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02920" y="3840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Detects opportunities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02920" y="4160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Estimates fair rates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02920" y="4480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Generates media kits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520440" y="3931920"/>
            <a:ext cx="1920240" cy="0"/>
          </a:xfrm>
          <a:prstGeom prst="line">
            <a:avLst/>
          </a:prstGeom>
          <a:noFill/>
          <a:ln w="10160">
            <a:solidFill>
              <a:srgbClr val="F59E0B">
                <a:alpha val="50000"/>
              </a:srgbClr>
            </a:solidFill>
            <a:prstDash val="sysDash"/>
          </a:ln>
        </p:spPr>
      </p:sp>
      <p:sp>
        <p:nvSpPr>
          <p:cNvPr id="35" name="Shape 29"/>
          <p:cNvSpPr/>
          <p:nvPr/>
        </p:nvSpPr>
        <p:spPr>
          <a:xfrm>
            <a:off x="7040880" y="3017520"/>
            <a:ext cx="3154680" cy="1828800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040880" y="3017520"/>
            <a:ext cx="31546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7" name="Shape 31"/>
          <p:cNvSpPr/>
          <p:nvPr/>
        </p:nvSpPr>
        <p:spPr>
          <a:xfrm>
            <a:off x="7178040" y="3182112"/>
            <a:ext cx="548640" cy="548640"/>
          </a:xfrm>
          <a:prstGeom prst="ellipse">
            <a:avLst/>
          </a:prstGeom>
          <a:solidFill>
            <a:srgbClr val="22C55E">
              <a:alpha val="22000"/>
            </a:srgbClr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3246120"/>
            <a:ext cx="411480" cy="4114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818120" y="31272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7178040" y="3840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Revenue analytics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7178040" y="4160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Deal pipeline CRM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7178040" y="4480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Cross-platform insights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3703320" y="3931920"/>
            <a:ext cx="3337560" cy="0"/>
          </a:xfrm>
          <a:prstGeom prst="line">
            <a:avLst/>
          </a:prstGeom>
          <a:noFill/>
          <a:ln w="10160">
            <a:solidFill>
              <a:srgbClr val="22C55E">
                <a:alpha val="50000"/>
              </a:srgbClr>
            </a:solidFill>
            <a:prstDash val="sysDash"/>
          </a:ln>
        </p:spPr>
      </p:sp>
      <p:sp>
        <p:nvSpPr>
          <p:cNvPr id="44" name="Shape 37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solidFill>
            <a:srgbClr val="091A0D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5" name="Text 3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 12 hours of admin work → completed in 18 minutes   ⚡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CreatorOS Wins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first AI-native OS built exclusively for creators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475488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world's first AI-native operating system built exclusively for creators."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8412480" cy="306324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  <a:gridCol w="1188720"/>
                <a:gridCol w="1188720"/>
                <a:gridCol w="2194560"/>
              </a:tblGrid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</a:rPr>
                        <a:t>Buffer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</a:rPr>
                        <a:t>Hootsuite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</a:rPr>
                        <a:t>CreatorIQ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80B14"/>
                          </a:solidFill>
                        </a:rPr>
                        <a:t>CreatorOS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</a:rPr>
                        <a:t>AI Inbox Management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CC1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E2E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</a:rPr>
                        <a:t>Content Distribution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CC1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E2E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</a:rPr>
                        <a:t>Brand Deal AI Assistant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CC1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E2E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</a:rPr>
                        <a:t>AI Rate Estimation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CC1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E2E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</a:rPr>
                        <a:t>Unified Creator Dashboard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CC1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E2E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</a:rPr>
                        <a:t>Workflow Automation (n8n)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CC1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E2E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E8F0"/>
                          </a:solidFill>
                        </a:rPr>
                        <a:t>Creator-First Pricing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4CC1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E2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0E1528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479145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Inbox Management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212848" y="479145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Content Distribution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877056" y="479145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Brand Deal Management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41264" y="479145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Creator Analytics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205472" y="479145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Workflow Automation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 modern stack designed for speed and scale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66928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73152" cy="566928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612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12471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68880" y="1143000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Next.js · Tailwind CSS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" y="1700784"/>
            <a:ext cx="7900416" cy="566928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" y="1700784"/>
            <a:ext cx="73152" cy="56692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81051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16152" y="177393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724912" y="1792224"/>
            <a:ext cx="5614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REST APIs · Express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77824" y="2350008"/>
            <a:ext cx="7388352" cy="566928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7824" y="2350008"/>
            <a:ext cx="73152" cy="56692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45973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72184" y="24231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2980944" y="2441448"/>
            <a:ext cx="5102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 · Gemini · Fine-tuned LLMs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1133856" y="2999232"/>
            <a:ext cx="6876288" cy="566928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133856" y="2999232"/>
            <a:ext cx="73152" cy="566928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310896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28216" y="307238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3236976" y="3090672"/>
            <a:ext cx="4590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Engine · Webhooks · Cron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389888" y="3648456"/>
            <a:ext cx="6364224" cy="566928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389888" y="3648456"/>
            <a:ext cx="73152" cy="566928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375818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984248" y="372160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3493008" y="3739896"/>
            <a:ext cx="4078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Redis · Pinecone Vector DB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1645920" y="4297680"/>
            <a:ext cx="5852160" cy="566928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645920" y="4297680"/>
            <a:ext cx="73152" cy="566928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0512" y="440740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240280" y="43708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3749040" y="43891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TikTok · Instagram · Gmail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365760" y="5001768"/>
            <a:ext cx="8412480" cy="365760"/>
          </a:xfrm>
          <a:prstGeom prst="rect">
            <a:avLst/>
          </a:prstGeom>
          <a:solidFill>
            <a:srgbClr val="0E0A1E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502920" y="503834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n8n Workflow Engine: The automation backbone connecting AI models, databases &amp; all external platform APIs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371600"/>
            <a:ext cx="3657600" cy="36576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as the intelligent middleware connecting everything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417320" cy="713232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7899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1389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1938528" y="1005840"/>
            <a:ext cx="1627632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938528" y="1005840"/>
            <a:ext cx="1627632" cy="502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1984248" y="114300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703320" y="1005840"/>
            <a:ext cx="1627632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03320" y="1005840"/>
            <a:ext cx="1627632" cy="502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3749040" y="114300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68112" y="1005840"/>
            <a:ext cx="1627632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68112" y="1005840"/>
            <a:ext cx="1627632" cy="502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5513832" y="114300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315968" y="171907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5760" y="1874520"/>
            <a:ext cx="1417320" cy="713232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947672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4048" y="2258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1938528" y="1874520"/>
            <a:ext cx="1627632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1938528" y="1874520"/>
            <a:ext cx="1627632" cy="502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19"/>
          <p:cNvSpPr/>
          <p:nvPr/>
        </p:nvSpPr>
        <p:spPr>
          <a:xfrm>
            <a:off x="1984248" y="201168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AI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703320" y="1874520"/>
            <a:ext cx="1627632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703320" y="1874520"/>
            <a:ext cx="1627632" cy="502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2"/>
          <p:cNvSpPr/>
          <p:nvPr/>
        </p:nvSpPr>
        <p:spPr>
          <a:xfrm>
            <a:off x="3749040" y="201168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AI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468112" y="1874520"/>
            <a:ext cx="1627632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468112" y="1874520"/>
            <a:ext cx="1627632" cy="502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5"/>
          <p:cNvSpPr/>
          <p:nvPr/>
        </p:nvSpPr>
        <p:spPr>
          <a:xfrm>
            <a:off x="5513832" y="201168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Deal AI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7232904" y="1874520"/>
            <a:ext cx="1627632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7232904" y="1874520"/>
            <a:ext cx="1627632" cy="502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28"/>
          <p:cNvSpPr/>
          <p:nvPr/>
        </p:nvSpPr>
        <p:spPr>
          <a:xfrm>
            <a:off x="7278624" y="201168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315968" y="258775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365760" y="2743200"/>
            <a:ext cx="1417320" cy="713232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816352"/>
            <a:ext cx="292608" cy="29260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384048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ENGINE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1938528" y="2743200"/>
            <a:ext cx="1627632" cy="713232"/>
          </a:xfrm>
          <a:prstGeom prst="rect">
            <a:avLst/>
          </a:prstGeom>
          <a:solidFill>
            <a:srgbClr val="12082A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1938528" y="2743200"/>
            <a:ext cx="1627632" cy="502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9" name="Text 34"/>
          <p:cNvSpPr/>
          <p:nvPr/>
        </p:nvSpPr>
        <p:spPr>
          <a:xfrm>
            <a:off x="1984248" y="28803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3703320" y="2743200"/>
            <a:ext cx="1627632" cy="713232"/>
          </a:xfrm>
          <a:prstGeom prst="rect">
            <a:avLst/>
          </a:prstGeom>
          <a:solidFill>
            <a:srgbClr val="12082A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3703320" y="2743200"/>
            <a:ext cx="1627632" cy="502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2" name="Text 37"/>
          <p:cNvSpPr/>
          <p:nvPr/>
        </p:nvSpPr>
        <p:spPr>
          <a:xfrm>
            <a:off x="3749040" y="28803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Triggers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5468112" y="2743200"/>
            <a:ext cx="1627632" cy="713232"/>
          </a:xfrm>
          <a:prstGeom prst="rect">
            <a:avLst/>
          </a:prstGeom>
          <a:solidFill>
            <a:srgbClr val="12082A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5468112" y="2743200"/>
            <a:ext cx="1627632" cy="502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5" name="Text 40"/>
          <p:cNvSpPr/>
          <p:nvPr/>
        </p:nvSpPr>
        <p:spPr>
          <a:xfrm>
            <a:off x="5513832" y="28803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Router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7232904" y="2743200"/>
            <a:ext cx="1627632" cy="713232"/>
          </a:xfrm>
          <a:prstGeom prst="rect">
            <a:avLst/>
          </a:prstGeom>
          <a:solidFill>
            <a:srgbClr val="12082A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7232904" y="2743200"/>
            <a:ext cx="1627632" cy="502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8" name="Text 43"/>
          <p:cNvSpPr/>
          <p:nvPr/>
        </p:nvSpPr>
        <p:spPr>
          <a:xfrm>
            <a:off x="7278624" y="28803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</a:t>
            </a:r>
            <a:endParaRPr lang="en-US" sz="1000" dirty="0"/>
          </a:p>
        </p:txBody>
      </p:sp>
      <p:sp>
        <p:nvSpPr>
          <p:cNvPr id="49" name="Text 44"/>
          <p:cNvSpPr/>
          <p:nvPr/>
        </p:nvSpPr>
        <p:spPr>
          <a:xfrm>
            <a:off x="4315968" y="345643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50" name="Shape 45"/>
          <p:cNvSpPr/>
          <p:nvPr/>
        </p:nvSpPr>
        <p:spPr>
          <a:xfrm>
            <a:off x="365760" y="3611880"/>
            <a:ext cx="1417320" cy="713232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685032"/>
            <a:ext cx="292608" cy="292608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384048" y="3995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750" dirty="0"/>
          </a:p>
        </p:txBody>
      </p:sp>
      <p:sp>
        <p:nvSpPr>
          <p:cNvPr id="53" name="Shape 47"/>
          <p:cNvSpPr/>
          <p:nvPr/>
        </p:nvSpPr>
        <p:spPr>
          <a:xfrm>
            <a:off x="1938528" y="3611880"/>
            <a:ext cx="1627632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1938528" y="3611880"/>
            <a:ext cx="1627632" cy="502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49"/>
          <p:cNvSpPr/>
          <p:nvPr/>
        </p:nvSpPr>
        <p:spPr>
          <a:xfrm>
            <a:off x="1984248" y="37490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/ Gemini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3703320" y="3611880"/>
            <a:ext cx="1627632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57" name="Shape 51"/>
          <p:cNvSpPr/>
          <p:nvPr/>
        </p:nvSpPr>
        <p:spPr>
          <a:xfrm>
            <a:off x="3703320" y="3611880"/>
            <a:ext cx="1627632" cy="502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2"/>
          <p:cNvSpPr/>
          <p:nvPr/>
        </p:nvSpPr>
        <p:spPr>
          <a:xfrm>
            <a:off x="3749040" y="37490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5468112" y="3611880"/>
            <a:ext cx="1627632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60" name="Shape 54"/>
          <p:cNvSpPr/>
          <p:nvPr/>
        </p:nvSpPr>
        <p:spPr>
          <a:xfrm>
            <a:off x="5468112" y="3611880"/>
            <a:ext cx="1627632" cy="502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1" name="Text 55"/>
          <p:cNvSpPr/>
          <p:nvPr/>
        </p:nvSpPr>
        <p:spPr>
          <a:xfrm>
            <a:off x="5513832" y="37490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62" name="Shape 56"/>
          <p:cNvSpPr/>
          <p:nvPr/>
        </p:nvSpPr>
        <p:spPr>
          <a:xfrm>
            <a:off x="7232904" y="3611880"/>
            <a:ext cx="1627632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63" name="Shape 57"/>
          <p:cNvSpPr/>
          <p:nvPr/>
        </p:nvSpPr>
        <p:spPr>
          <a:xfrm>
            <a:off x="7232904" y="3611880"/>
            <a:ext cx="1627632" cy="502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4" name="Text 58"/>
          <p:cNvSpPr/>
          <p:nvPr/>
        </p:nvSpPr>
        <p:spPr>
          <a:xfrm>
            <a:off x="7278624" y="37490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000" dirty="0"/>
          </a:p>
        </p:txBody>
      </p:sp>
      <p:sp>
        <p:nvSpPr>
          <p:cNvPr id="65" name="Text 59"/>
          <p:cNvSpPr/>
          <p:nvPr/>
        </p:nvSpPr>
        <p:spPr>
          <a:xfrm>
            <a:off x="4315968" y="432511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66" name="Shape 60"/>
          <p:cNvSpPr/>
          <p:nvPr/>
        </p:nvSpPr>
        <p:spPr>
          <a:xfrm>
            <a:off x="365760" y="4480560"/>
            <a:ext cx="1417320" cy="713232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pic>
        <p:nvPicPr>
          <p:cNvPr id="6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553712"/>
            <a:ext cx="292608" cy="292608"/>
          </a:xfrm>
          <a:prstGeom prst="rect">
            <a:avLst/>
          </a:prstGeom>
        </p:spPr>
      </p:pic>
      <p:sp>
        <p:nvSpPr>
          <p:cNvPr id="68" name="Text 61"/>
          <p:cNvSpPr/>
          <p:nvPr/>
        </p:nvSpPr>
        <p:spPr>
          <a:xfrm>
            <a:off x="384048" y="4864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50" dirty="0"/>
          </a:p>
        </p:txBody>
      </p:sp>
      <p:sp>
        <p:nvSpPr>
          <p:cNvPr id="69" name="Shape 62"/>
          <p:cNvSpPr/>
          <p:nvPr/>
        </p:nvSpPr>
        <p:spPr>
          <a:xfrm>
            <a:off x="1938528" y="4480560"/>
            <a:ext cx="1627632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70" name="Shape 63"/>
          <p:cNvSpPr/>
          <p:nvPr/>
        </p:nvSpPr>
        <p:spPr>
          <a:xfrm>
            <a:off x="1938528" y="4480560"/>
            <a:ext cx="1627632" cy="502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1" name="Text 64"/>
          <p:cNvSpPr/>
          <p:nvPr/>
        </p:nvSpPr>
        <p:spPr>
          <a:xfrm>
            <a:off x="1984248" y="46177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000" dirty="0"/>
          </a:p>
        </p:txBody>
      </p:sp>
      <p:sp>
        <p:nvSpPr>
          <p:cNvPr id="72" name="Shape 65"/>
          <p:cNvSpPr/>
          <p:nvPr/>
        </p:nvSpPr>
        <p:spPr>
          <a:xfrm>
            <a:off x="3703320" y="4480560"/>
            <a:ext cx="1627632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73" name="Shape 66"/>
          <p:cNvSpPr/>
          <p:nvPr/>
        </p:nvSpPr>
        <p:spPr>
          <a:xfrm>
            <a:off x="3703320" y="4480560"/>
            <a:ext cx="1627632" cy="502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4" name="Text 67"/>
          <p:cNvSpPr/>
          <p:nvPr/>
        </p:nvSpPr>
        <p:spPr>
          <a:xfrm>
            <a:off x="3749040" y="46177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000" dirty="0"/>
          </a:p>
        </p:txBody>
      </p:sp>
      <p:sp>
        <p:nvSpPr>
          <p:cNvPr id="75" name="Shape 68"/>
          <p:cNvSpPr/>
          <p:nvPr/>
        </p:nvSpPr>
        <p:spPr>
          <a:xfrm>
            <a:off x="5468112" y="4480560"/>
            <a:ext cx="1627632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76" name="Shape 69"/>
          <p:cNvSpPr/>
          <p:nvPr/>
        </p:nvSpPr>
        <p:spPr>
          <a:xfrm>
            <a:off x="5468112" y="4480560"/>
            <a:ext cx="1627632" cy="502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7" name="Text 70"/>
          <p:cNvSpPr/>
          <p:nvPr/>
        </p:nvSpPr>
        <p:spPr>
          <a:xfrm>
            <a:off x="5513832" y="46177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78" name="Shape 71"/>
          <p:cNvSpPr/>
          <p:nvPr/>
        </p:nvSpPr>
        <p:spPr>
          <a:xfrm>
            <a:off x="7232904" y="4480560"/>
            <a:ext cx="1627632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79" name="Shape 72"/>
          <p:cNvSpPr/>
          <p:nvPr/>
        </p:nvSpPr>
        <p:spPr>
          <a:xfrm>
            <a:off x="7232904" y="4480560"/>
            <a:ext cx="1627632" cy="502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0" name="Text 73"/>
          <p:cNvSpPr/>
          <p:nvPr/>
        </p:nvSpPr>
        <p:spPr>
          <a:xfrm>
            <a:off x="7278624" y="46177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/ Outlook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2C55E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SaaS Revenue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pricing, powerful upgrade path, agency multiplier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697480" cy="3767328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1430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" y="15727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75488" y="2212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2578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AI inbox replies/mo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9443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platform distribution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33101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analytics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36758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Community support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4498848"/>
            <a:ext cx="2478024" cy="201168"/>
          </a:xfrm>
          <a:prstGeom prst="rect">
            <a:avLst/>
          </a:prstGeom>
          <a:solidFill>
            <a:srgbClr val="94A3B8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449884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growth engine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18688" y="1024128"/>
            <a:ext cx="2697480" cy="3767328"/>
          </a:xfrm>
          <a:prstGeom prst="rect">
            <a:avLst/>
          </a:prstGeom>
          <a:solidFill>
            <a:srgbClr val="150E2E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024128"/>
            <a:ext cx="2697480" cy="73152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27000" dist="50800" dir="2700000">
              <a:srgbClr val="8B5CF6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76088" y="987552"/>
            <a:ext cx="594360" cy="274320"/>
          </a:xfrm>
          <a:prstGeom prst="rect">
            <a:avLst/>
          </a:prstGeom>
          <a:solidFill>
            <a:srgbClr val="8B5CF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94376" y="987552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28416" y="11430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28416" y="15727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328416" y="2212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578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AI replies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9443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10+ platforms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33101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Brand Deal Assistant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36758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Media Kit Generator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4041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28416" y="4498848"/>
            <a:ext cx="2478024" cy="201168"/>
          </a:xfrm>
          <a:prstGeom prst="rect">
            <a:avLst/>
          </a:prstGeom>
          <a:solidFill>
            <a:srgbClr val="8B5CF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28416" y="449884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10K–100K creators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71616" y="1024128"/>
            <a:ext cx="2697480" cy="3767328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81344" y="11430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81344" y="15727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6181344" y="2212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36208" y="2578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25 creator accounts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36208" y="29443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White-label dashboard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33101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AI workflows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36208" y="36758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Account manager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36208" y="4041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API access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81344" y="4498848"/>
            <a:ext cx="2478024" cy="201168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81344" y="449884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MCNs &amp; agencies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800600"/>
            <a:ext cx="8412480" cy="292608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" y="48280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Subscription Revenue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37560" y="48280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Agency Plans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26480" y="48280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Future: Deal Commission %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13716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and Growing Market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Riding the fastest-growing digital economy segment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0" y="1051560"/>
            <a:ext cx="4114800" cy="3474720"/>
          </a:xfrm>
          <a:prstGeom prst="ellipse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0" y="1417320"/>
            <a:ext cx="3017520" cy="2743200"/>
          </a:xfrm>
          <a:prstGeom prst="ellipse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1874520"/>
            <a:ext cx="1920240" cy="182880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$480B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0" y="2999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1051560"/>
            <a:ext cx="4160520" cy="804672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61288"/>
            <a:ext cx="347472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60120" y="11155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2560320" y="117043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Creators Globally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2011680"/>
            <a:ext cx="4160520" cy="804672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21408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60120" y="207568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2560320" y="21305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— Creator Economy Growth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65760" y="2971800"/>
            <a:ext cx="4160520" cy="804672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81528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60120" y="30358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2560320" y="309067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Creators Join Monthly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65760" y="3931920"/>
            <a:ext cx="4160520" cy="804672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41648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60120" y="39959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$480B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2560320" y="405079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Creator Economy 2024</a:t>
            </a:r>
            <a:endParaRPr lang="en-US" sz="10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365760" y="4389120"/>
          <a:ext cx="411480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 24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Goldman Sachs, Linktree, Statista, NeoReach 2024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743200"/>
            <a:ext cx="3657600" cy="3657600"/>
          </a:xfrm>
          <a:prstGeom prst="ellipse">
            <a:avLst/>
          </a:prstGeom>
          <a:solidFill>
            <a:srgbClr val="A855F7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the Future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complete AI stack for the creator economy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34440" y="1600200"/>
            <a:ext cx="676656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ysDash"/>
          </a:ln>
        </p:spPr>
      </p:sp>
      <p:sp>
        <p:nvSpPr>
          <p:cNvPr id="6" name="Shape 4"/>
          <p:cNvSpPr/>
          <p:nvPr/>
        </p:nvSpPr>
        <p:spPr>
          <a:xfrm>
            <a:off x="1508760" y="1463040"/>
            <a:ext cx="274320" cy="27432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127000" dist="50800" dir="2700000">
              <a:srgbClr val="06B6D4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2743200" cy="3401568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28800"/>
            <a:ext cx="274320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2249424"/>
            <a:ext cx="1207008" cy="219456"/>
          </a:xfrm>
          <a:prstGeom prst="rect">
            <a:avLst/>
          </a:prstGeom>
          <a:solidFill>
            <a:srgbClr val="06B6D4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47088" y="22494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Inbox Manager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Content Distributor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Brand Deal Assistant v1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Creator Dashboard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1463040"/>
            <a:ext cx="274320" cy="27432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27000" dist="50800" dir="2700000">
              <a:srgbClr val="8B5CF6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828800"/>
            <a:ext cx="2743200" cy="3401568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828800"/>
            <a:ext cx="274320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920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2286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249424"/>
            <a:ext cx="1207008" cy="219456"/>
          </a:xfrm>
          <a:prstGeom prst="rect">
            <a:avLst/>
          </a:prstGeom>
          <a:solidFill>
            <a:srgbClr val="8B5CF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27448" y="22494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37560" y="26517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Negotiation Agent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31089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Content Planner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35661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Voice Assistant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40233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Sponsorship Marketplace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69480" y="1463040"/>
            <a:ext cx="274320" cy="274320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50800" dir="2700000">
              <a:srgbClr val="A855F7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828800"/>
            <a:ext cx="2743200" cy="3401568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828800"/>
            <a:ext cx="274320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1920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0" y="2286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2026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89520" y="2249424"/>
            <a:ext cx="1207008" cy="219456"/>
          </a:xfrm>
          <a:prstGeom prst="rect">
            <a:avLst/>
          </a:prstGeom>
          <a:solidFill>
            <a:srgbClr val="A855F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607808" y="22494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17920" y="26517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Contract Reviewer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31089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Enterprise API Platform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5661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Collaboration Tools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40233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Creator Team Mgmt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5376672"/>
            <a:ext cx="8412480" cy="292608"/>
          </a:xfrm>
          <a:prstGeom prst="rect">
            <a:avLst/>
          </a:prstGeom>
          <a:solidFill>
            <a:srgbClr val="0A0E1A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2920" y="540410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2 &amp; 3 unlock the platform play — an open API ecosystem for third-party developer integrations on top of CreatorOS.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286000"/>
            <a:ext cx="2743200" cy="27432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Operating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Creator Economy.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697480" cy="1143000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269748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691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12hrs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960120" y="2221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Every Week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18688" y="1600200"/>
            <a:ext cx="2697480" cy="1143000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18688" y="160020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80136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13048" y="1691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3.2×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3813048" y="2221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Brand Deals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71616" y="1600200"/>
            <a:ext cx="2697480" cy="1143000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71616" y="1600200"/>
            <a:ext cx="269748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80136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65976" y="1691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6665976" y="2221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Increase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65760" y="2898648"/>
            <a:ext cx="2697480" cy="1143000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2898648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99816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0120" y="29900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96012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Response Rate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218688" y="2898648"/>
            <a:ext cx="2697480" cy="1143000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18688" y="2898648"/>
            <a:ext cx="2697480" cy="54864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3099816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813048" y="29900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</a:t>
            </a:r>
            <a:endParaRPr lang="en-US" sz="2600" dirty="0"/>
          </a:p>
        </p:txBody>
      </p:sp>
      <p:sp>
        <p:nvSpPr>
          <p:cNvPr id="31" name="Text 24"/>
          <p:cNvSpPr/>
          <p:nvPr/>
        </p:nvSpPr>
        <p:spPr>
          <a:xfrm>
            <a:off x="3813048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Content Publishing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071616" y="2898648"/>
            <a:ext cx="2697480" cy="1143000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071616" y="2898648"/>
            <a:ext cx="269748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3099816"/>
            <a:ext cx="347472" cy="34747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665976" y="29900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$480B</a:t>
            </a:r>
            <a:endParaRPr lang="en-US" sz="2600" dirty="0"/>
          </a:p>
        </p:txBody>
      </p:sp>
      <p:sp>
        <p:nvSpPr>
          <p:cNvPr id="36" name="Text 28"/>
          <p:cNvSpPr/>
          <p:nvPr/>
        </p:nvSpPr>
        <p:spPr>
          <a:xfrm>
            <a:off x="6665976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We're Disrupting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solidFill>
            <a:srgbClr val="1A223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8" name="Text 30"/>
          <p:cNvSpPr/>
          <p:nvPr/>
        </p:nvSpPr>
        <p:spPr>
          <a:xfrm>
            <a:off x="5029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"CreatorOS transforms creators from overwhelmed entrepreneurs into AI-powered businesses."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365760" y="48920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Creator Management Starts Here.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6309360" y="4828032"/>
            <a:ext cx="2468880" cy="384048"/>
          </a:xfrm>
          <a:prstGeom prst="rect">
            <a:avLst/>
          </a:prstGeom>
          <a:solidFill>
            <a:srgbClr val="8B5CF6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6309360" y="48280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Team Rocket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CreatorOS – AI Manager for Influencers</dc:title>
  <dc:subject>PptxGenJS Presentation</dc:subject>
  <dc:creator>Team Rocket</dc:creator>
  <cp:lastModifiedBy>Team Rocket</cp:lastModifiedBy>
  <cp:revision>1</cp:revision>
  <dcterms:created xsi:type="dcterms:W3CDTF">2026-06-17T18:05:57Z</dcterms:created>
  <dcterms:modified xsi:type="dcterms:W3CDTF">2026-06-17T18:05:57Z</dcterms:modified>
</cp:coreProperties>
</file>